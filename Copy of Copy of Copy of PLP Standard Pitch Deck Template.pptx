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arlow Bold Italics" charset="1" panose="00000800000000000000"/>
      <p:regular r:id="rId21"/>
    </p:embeddedFont>
    <p:embeddedFont>
      <p:font typeface="Barlow Semi-Bold" charset="1" panose="00000700000000000000"/>
      <p:regular r:id="rId22"/>
    </p:embeddedFont>
    <p:embeddedFont>
      <p:font typeface="Barlow Italics" charset="1" panose="00000500000000000000"/>
      <p:regular r:id="rId23"/>
    </p:embeddedFont>
    <p:embeddedFont>
      <p:font typeface="Barlow" charset="1" panose="00000500000000000000"/>
      <p:regular r:id="rId24"/>
    </p:embeddedFont>
    <p:embeddedFont>
      <p:font typeface="Barlow Semi-Bold Italics" charset="1" panose="00000700000000000000"/>
      <p:regular r:id="rId25"/>
    </p:embeddedFont>
    <p:embeddedFont>
      <p:font typeface="Barlow Bold" charset="1" panose="00000800000000000000"/>
      <p:regular r:id="rId26"/>
    </p:embeddedFont>
    <p:embeddedFont>
      <p:font typeface="Barlow Medium" charset="1" panose="00000600000000000000"/>
      <p:regular r:id="rId27"/>
    </p:embeddedFont>
    <p:embeddedFont>
      <p:font typeface="Garet Bold" charset="1" panose="00000000000000000000"/>
      <p:regular r:id="rId28"/>
    </p:embeddedFont>
    <p:embeddedFont>
      <p:font typeface="Garet" charset="1" panose="00000000000000000000"/>
      <p:regular r:id="rId29"/>
    </p:embeddedFont>
    <p:embeddedFont>
      <p:font typeface="Canva Sans Bold" charset="1" panose="020B0803030501040103"/>
      <p:regular r:id="rId30"/>
    </p:embeddedFont>
    <p:embeddedFont>
      <p:font typeface="Canva Sans" charset="1" panose="020B05030305010401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7200" y="-746125"/>
            <a:ext cx="9601200" cy="11544300"/>
          </a:xfrm>
          <a:custGeom>
            <a:avLst/>
            <a:gdLst/>
            <a:ahLst/>
            <a:cxnLst/>
            <a:rect r="r" b="b" t="t" l="l"/>
            <a:pathLst>
              <a:path h="11544300" w="9601200">
                <a:moveTo>
                  <a:pt x="0" y="0"/>
                </a:moveTo>
                <a:lnTo>
                  <a:pt x="9601200" y="0"/>
                </a:lnTo>
                <a:lnTo>
                  <a:pt x="9601200" y="11544300"/>
                </a:lnTo>
                <a:lnTo>
                  <a:pt x="0" y="1154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81" t="-2505" r="0" b="-100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2530" y="2038544"/>
            <a:ext cx="5229554" cy="508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b="true" sz="3439" i="true" u="sng">
                <a:solidFill>
                  <a:srgbClr val="00BF63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PYTHONBRIDGE AFRICA</a:t>
            </a: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  <a:r>
              <a:rPr lang="en-US" b="true" sz="3439" i="true" u="sng">
                <a:solidFill>
                  <a:srgbClr val="00BF63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Learn Python. Build Solutions. Create Opportunities.</a:t>
            </a:r>
          </a:p>
          <a:p>
            <a:pPr algn="l">
              <a:lnSpc>
                <a:spcPts val="1944"/>
              </a:lnSpc>
            </a:pPr>
          </a:p>
          <a:p>
            <a:pPr algn="l">
              <a:lnSpc>
                <a:spcPts val="3439"/>
              </a:lnSpc>
            </a:pPr>
            <a:r>
              <a:rPr lang="en-US" b="true" sz="3439" i="true" u="sng">
                <a:solidFill>
                  <a:srgbClr val="00BF63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Founder</a:t>
            </a:r>
          </a:p>
          <a:p>
            <a:pPr algn="l">
              <a:lnSpc>
                <a:spcPts val="56"/>
              </a:lnSpc>
            </a:pPr>
          </a:p>
          <a:p>
            <a:pPr algn="l">
              <a:lnSpc>
                <a:spcPts val="3439"/>
              </a:lnSpc>
            </a:pPr>
            <a:r>
              <a:rPr lang="en-US" b="true" sz="3439" i="true" u="sng">
                <a:solidFill>
                  <a:srgbClr val="00BF63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By Chan Gatwech</a:t>
            </a: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  <a:p>
            <a:pPr algn="l">
              <a:lnSpc>
                <a:spcPts val="343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03663" y="143884"/>
            <a:ext cx="1837509" cy="1837509"/>
          </a:xfrm>
          <a:custGeom>
            <a:avLst/>
            <a:gdLst/>
            <a:ahLst/>
            <a:cxnLst/>
            <a:rect r="r" b="b" t="t" l="l"/>
            <a:pathLst>
              <a:path h="1837509" w="1837509">
                <a:moveTo>
                  <a:pt x="0" y="0"/>
                </a:moveTo>
                <a:lnTo>
                  <a:pt x="1837510" y="0"/>
                </a:lnTo>
                <a:lnTo>
                  <a:pt x="1837510" y="1837510"/>
                </a:lnTo>
                <a:lnTo>
                  <a:pt x="0" y="18375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88992" y="2324618"/>
            <a:ext cx="8456646" cy="5637764"/>
          </a:xfrm>
          <a:custGeom>
            <a:avLst/>
            <a:gdLst/>
            <a:ahLst/>
            <a:cxnLst/>
            <a:rect r="r" b="b" t="t" l="l"/>
            <a:pathLst>
              <a:path h="5637764" w="8456646">
                <a:moveTo>
                  <a:pt x="0" y="0"/>
                </a:moveTo>
                <a:lnTo>
                  <a:pt x="8456646" y="0"/>
                </a:lnTo>
                <a:lnTo>
                  <a:pt x="8456646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9257" y="9576600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true">
                <a:solidFill>
                  <a:srgbClr val="00BF63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258270" y="-349930"/>
            <a:ext cx="7708159" cy="10986860"/>
          </a:xfrm>
          <a:prstGeom prst="rect">
            <a:avLst/>
          </a:prstGeom>
          <a:solidFill>
            <a:srgbClr val="0BB6BC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629257" y="893789"/>
            <a:ext cx="1079292" cy="269823"/>
          </a:xfrm>
          <a:custGeom>
            <a:avLst/>
            <a:gdLst/>
            <a:ahLst/>
            <a:cxnLst/>
            <a:rect r="r" b="b" t="t" l="l"/>
            <a:pathLst>
              <a:path h="269823" w="1079292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34342" y="0"/>
            <a:ext cx="9353658" cy="10287000"/>
          </a:xfrm>
          <a:custGeom>
            <a:avLst/>
            <a:gdLst/>
            <a:ahLst/>
            <a:cxnLst/>
            <a:rect r="r" b="b" t="t" l="l"/>
            <a:pathLst>
              <a:path h="10287000" w="9353658">
                <a:moveTo>
                  <a:pt x="0" y="0"/>
                </a:moveTo>
                <a:lnTo>
                  <a:pt x="9353658" y="0"/>
                </a:lnTo>
                <a:lnTo>
                  <a:pt x="93536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632" t="0" r="-6644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b="true" sz="2199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742" y="1336221"/>
            <a:ext cx="6295401" cy="796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8"/>
              </a:lnSpc>
              <a:spcBef>
                <a:spcPct val="0"/>
              </a:spcBef>
            </a:pPr>
            <a:r>
              <a:rPr lang="en-US" b="true" sz="2678" i="true" u="sng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Problem Statements</a:t>
            </a: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  <a:r>
              <a:rPr lang="en-US" sz="2678" i="true">
                <a:solidFill>
                  <a:srgbClr val="00BF63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Youth unemployment</a:t>
            </a: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  <a:r>
              <a:rPr lang="en-US" sz="2678" i="true">
                <a:solidFill>
                  <a:srgbClr val="00BF63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Lack of practical skills</a:t>
            </a: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  <a:r>
              <a:rPr lang="en-US" sz="2678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Difficulty learning Python</a:t>
            </a: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</a:p>
          <a:p>
            <a:pPr algn="ctr">
              <a:lnSpc>
                <a:spcPts val="3348"/>
              </a:lnSpc>
              <a:spcBef>
                <a:spcPct val="0"/>
              </a:spcBef>
            </a:pPr>
            <a:r>
              <a:rPr lang="en-US" sz="2678" i="true">
                <a:solidFill>
                  <a:srgbClr val="00BF63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Limited access to technology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44798"/>
            <a:ext cx="1059192" cy="1059192"/>
            <a:chOff x="0" y="0"/>
            <a:chExt cx="1412257" cy="141225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412257" cy="1412257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0113E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474293" y="543843"/>
              <a:ext cx="463671" cy="324570"/>
            </a:xfrm>
            <a:custGeom>
              <a:avLst/>
              <a:gdLst/>
              <a:ahLst/>
              <a:cxnLst/>
              <a:rect r="r" b="b" t="t" l="l"/>
              <a:pathLst>
                <a:path h="324570" w="463671">
                  <a:moveTo>
                    <a:pt x="0" y="0"/>
                  </a:moveTo>
                  <a:lnTo>
                    <a:pt x="463671" y="0"/>
                  </a:lnTo>
                  <a:lnTo>
                    <a:pt x="463671" y="324570"/>
                  </a:lnTo>
                  <a:lnTo>
                    <a:pt x="0" y="32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714768" y="0"/>
            <a:ext cx="9573232" cy="10062897"/>
          </a:xfrm>
          <a:custGeom>
            <a:avLst/>
            <a:gdLst/>
            <a:ahLst/>
            <a:cxnLst/>
            <a:rect r="r" b="b" t="t" l="l"/>
            <a:pathLst>
              <a:path h="10062897" w="9573232">
                <a:moveTo>
                  <a:pt x="0" y="0"/>
                </a:moveTo>
                <a:lnTo>
                  <a:pt x="9573232" y="0"/>
                </a:lnTo>
                <a:lnTo>
                  <a:pt x="9573232" y="10062897"/>
                </a:lnTo>
                <a:lnTo>
                  <a:pt x="0" y="10062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593" t="0" r="-4381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b="true" sz="2199">
                <a:solidFill>
                  <a:srgbClr val="00BF63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-19050"/>
            <a:ext cx="6346029" cy="610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4"/>
              </a:lnSpc>
              <a:spcBef>
                <a:spcPct val="0"/>
              </a:spcBef>
            </a:pPr>
            <a:r>
              <a:rPr lang="en-US" b="true" sz="3907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Solutions: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1109283"/>
            <a:ext cx="8714768" cy="6798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8"/>
              </a:lnSpc>
              <a:spcBef>
                <a:spcPct val="0"/>
              </a:spcBef>
            </a:pPr>
            <a:r>
              <a:rPr lang="en-US" b="true" sz="1886" i="true" u="sng">
                <a:solidFill>
                  <a:srgbClr val="0BB6BC"/>
                </a:solidFill>
                <a:latin typeface="Barlow Semi-Bold Italics"/>
                <a:ea typeface="Barlow Semi-Bold Italics"/>
                <a:cs typeface="Barlow Semi-Bold Italics"/>
                <a:sym typeface="Barlow Semi-Bold Italics"/>
              </a:rPr>
              <a:t>Job Connections</a:t>
            </a:r>
            <a:r>
              <a:rPr lang="en-US" b="true" sz="1886" i="true">
                <a:solidFill>
                  <a:srgbClr val="00BF63"/>
                </a:solidFill>
                <a:latin typeface="Barlow Semi-Bold Italics"/>
                <a:ea typeface="Barlow Semi-Bold Italics"/>
                <a:cs typeface="Barlow Semi-Bold Italics"/>
                <a:sym typeface="Barlow Semi-Bold Italics"/>
              </a:rPr>
              <a:t>: Link youth to jobs, internships, and freelance work.</a:t>
            </a: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  <a:r>
              <a:rPr lang="en-US" b="true" sz="1886" i="true" u="sng">
                <a:solidFill>
                  <a:srgbClr val="083169"/>
                </a:solidFill>
                <a:latin typeface="Barlow Semi-Bold Italics"/>
                <a:ea typeface="Barlow Semi-Bold Italics"/>
                <a:cs typeface="Barlow Semi-Bold Italics"/>
                <a:sym typeface="Barlow Semi-Bold Italics"/>
              </a:rPr>
              <a:t>Practical Training</a:t>
            </a:r>
            <a:r>
              <a:rPr lang="en-US" b="true" sz="1886" i="true">
                <a:solidFill>
                  <a:srgbClr val="00BF63"/>
                </a:solidFill>
                <a:latin typeface="Barlow Semi-Bold Italics"/>
                <a:ea typeface="Barlow Semi-Bold Italics"/>
                <a:cs typeface="Barlow Semi-Bold Italics"/>
                <a:sym typeface="Barlow Semi-Bold Italics"/>
              </a:rPr>
              <a:t>: Provide hands-on coding projects and mentorship.</a:t>
            </a: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  <a:r>
              <a:rPr lang="en-US" b="true" sz="1886" i="true" u="sng">
                <a:solidFill>
                  <a:srgbClr val="FFDE59"/>
                </a:solidFill>
                <a:latin typeface="Barlow Semi-Bold Italics"/>
                <a:ea typeface="Barlow Semi-Bold Italics"/>
                <a:cs typeface="Barlow Semi-Bold Italics"/>
                <a:sym typeface="Barlow Semi-Bold Italics"/>
              </a:rPr>
              <a:t>Guided Learning</a:t>
            </a:r>
            <a:r>
              <a:rPr lang="en-US" b="true" sz="1886" i="true">
                <a:solidFill>
                  <a:srgbClr val="00BF63"/>
                </a:solidFill>
                <a:latin typeface="Barlow Semi-Bold Italics"/>
                <a:ea typeface="Barlow Semi-Bold Italics"/>
                <a:cs typeface="Barlow Semi-Bold Italics"/>
                <a:sym typeface="Barlow Semi-Bold Italics"/>
              </a:rPr>
              <a:t>: Offer simple Python lessons and beginner support.</a:t>
            </a: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</a:p>
          <a:p>
            <a:pPr algn="ctr">
              <a:lnSpc>
                <a:spcPts val="2358"/>
              </a:lnSpc>
              <a:spcBef>
                <a:spcPct val="0"/>
              </a:spcBef>
            </a:pPr>
            <a:r>
              <a:rPr lang="en-US" b="true" sz="1886" i="true" u="sng">
                <a:solidFill>
                  <a:srgbClr val="CF6E38"/>
                </a:solidFill>
                <a:latin typeface="Barlow Semi-Bold Italics"/>
                <a:ea typeface="Barlow Semi-Bold Italics"/>
                <a:cs typeface="Barlow Semi-Bold Italics"/>
                <a:sym typeface="Barlow Semi-Bold Italics"/>
              </a:rPr>
              <a:t>Affordable Technology</a:t>
            </a:r>
            <a:r>
              <a:rPr lang="en-US" b="true" sz="1886" i="true">
                <a:solidFill>
                  <a:srgbClr val="00BF63"/>
                </a:solidFill>
                <a:latin typeface="Barlow Semi-Bold Italics"/>
                <a:ea typeface="Barlow Semi-Bold Italics"/>
                <a:cs typeface="Barlow Semi-Bold Italics"/>
                <a:sym typeface="Barlow Semi-Bold Italics"/>
              </a:rPr>
              <a:t>: Partner with organizations to provide laptops, internet, and learning resources.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63853" y="1731432"/>
            <a:ext cx="3928170" cy="7772559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69093" t="0" r="-169093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7974289" y="3001835"/>
            <a:ext cx="2810311" cy="5560683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142858" t="0" r="-142858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8700" y="667172"/>
            <a:ext cx="866371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8100" u="none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Product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11370" y="0"/>
            <a:ext cx="6676630" cy="20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8"/>
              </a:lnSpc>
              <a:spcBef>
                <a:spcPct val="0"/>
              </a:spcBef>
            </a:pPr>
            <a:r>
              <a:rPr lang="en-US" b="true" sz="3332" i="true" u="sng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Python Learning Platform</a:t>
            </a:r>
          </a:p>
          <a:p>
            <a:pPr algn="ctr">
              <a:lnSpc>
                <a:spcPts val="3998"/>
              </a:lnSpc>
              <a:spcBef>
                <a:spcPct val="0"/>
              </a:spcBef>
            </a:pPr>
          </a:p>
          <a:p>
            <a:pPr algn="ctr">
              <a:lnSpc>
                <a:spcPts val="3998"/>
              </a:lnSpc>
              <a:spcBef>
                <a:spcPct val="0"/>
              </a:spcBef>
            </a:pPr>
            <a:r>
              <a:rPr lang="en-US" b="true" sz="3332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 </a:t>
            </a:r>
            <a:r>
              <a:rPr lang="en-US" b="true" sz="3332">
                <a:solidFill>
                  <a:srgbClr val="00BF63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Online Python courses and tutorials for beginners.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32140" y="3604207"/>
            <a:ext cx="2352576" cy="35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4"/>
              </a:lnSpc>
              <a:spcBef>
                <a:spcPct val="0"/>
              </a:spcBef>
            </a:pPr>
            <a:r>
              <a:rPr lang="en-US" b="true" sz="1154" i="true" u="sng">
                <a:solidFill>
                  <a:srgbClr val="0BB6BC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Project Portfolio</a:t>
            </a:r>
          </a:p>
          <a:p>
            <a:pPr algn="ctr">
              <a:lnSpc>
                <a:spcPts val="1384"/>
              </a:lnSpc>
              <a:spcBef>
                <a:spcPct val="0"/>
              </a:spcBef>
            </a:pPr>
          </a:p>
          <a:p>
            <a:pPr algn="ctr">
              <a:lnSpc>
                <a:spcPts val="1384"/>
              </a:lnSpc>
              <a:spcBef>
                <a:spcPct val="0"/>
              </a:spcBef>
            </a:pPr>
          </a:p>
          <a:p>
            <a:pPr algn="ctr">
              <a:lnSpc>
                <a:spcPts val="4002"/>
              </a:lnSpc>
              <a:spcBef>
                <a:spcPct val="0"/>
              </a:spcBef>
            </a:pPr>
          </a:p>
          <a:p>
            <a:pPr algn="ctr">
              <a:lnSpc>
                <a:spcPts val="4002"/>
              </a:lnSpc>
              <a:spcBef>
                <a:spcPct val="0"/>
              </a:spcBef>
            </a:pPr>
            <a:r>
              <a:rPr lang="en-US" sz="3335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A platform for learners to showcase their coding skills.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9006" y="3604207"/>
            <a:ext cx="3457864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3"/>
              </a:lnSpc>
              <a:spcBef>
                <a:spcPct val="0"/>
              </a:spcBef>
            </a:pPr>
            <a:r>
              <a:rPr lang="en-US" sz="3210" u="sng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Coding Projects:</a:t>
            </a:r>
          </a:p>
          <a:p>
            <a:pPr algn="ctr">
              <a:lnSpc>
                <a:spcPts val="3853"/>
              </a:lnSpc>
              <a:spcBef>
                <a:spcPct val="0"/>
              </a:spcBef>
            </a:pPr>
          </a:p>
          <a:p>
            <a:pPr algn="ctr">
              <a:lnSpc>
                <a:spcPts val="3853"/>
              </a:lnSpc>
              <a:spcBef>
                <a:spcPct val="0"/>
              </a:spcBef>
            </a:pPr>
          </a:p>
          <a:p>
            <a:pPr algn="ctr">
              <a:lnSpc>
                <a:spcPts val="3853"/>
              </a:lnSpc>
              <a:spcBef>
                <a:spcPct val="0"/>
              </a:spcBef>
            </a:pPr>
          </a:p>
          <a:p>
            <a:pPr algn="ctr">
              <a:lnSpc>
                <a:spcPts val="3853"/>
              </a:lnSpc>
              <a:spcBef>
                <a:spcPct val="0"/>
              </a:spcBef>
            </a:pPr>
          </a:p>
          <a:p>
            <a:pPr algn="ctr">
              <a:lnSpc>
                <a:spcPts val="3853"/>
              </a:lnSpc>
              <a:spcBef>
                <a:spcPct val="0"/>
              </a:spcBef>
            </a:pPr>
          </a:p>
          <a:p>
            <a:pPr algn="ctr">
              <a:lnSpc>
                <a:spcPts val="3853"/>
              </a:lnSpc>
              <a:spcBef>
                <a:spcPct val="0"/>
              </a:spcBef>
            </a:pPr>
          </a:p>
          <a:p>
            <a:pPr algn="ctr">
              <a:lnSpc>
                <a:spcPts val="3853"/>
              </a:lnSpc>
              <a:spcBef>
                <a:spcPct val="0"/>
              </a:spcBef>
            </a:pPr>
          </a:p>
          <a:p>
            <a:pPr algn="ctr">
              <a:lnSpc>
                <a:spcPts val="3853"/>
              </a:lnSpc>
              <a:spcBef>
                <a:spcPct val="0"/>
              </a:spcBef>
            </a:pPr>
            <a:r>
              <a:rPr lang="en-US" b="true" sz="3210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Practical projects to help youth gain experience.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86565" y="1943576"/>
            <a:ext cx="6996242" cy="94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7"/>
              </a:lnSpc>
            </a:pPr>
            <a:r>
              <a:rPr lang="en-US" b="true" sz="6239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4 OUT 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55265" y="2846204"/>
            <a:ext cx="5312371" cy="194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1871" b="true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Youth face barriers to tech opportunities</a:t>
            </a:r>
          </a:p>
          <a:p>
            <a:pPr algn="l">
              <a:lnSpc>
                <a:spcPts val="2620"/>
              </a:lnSpc>
            </a:pPr>
          </a:p>
          <a:p>
            <a:pPr algn="l">
              <a:lnSpc>
                <a:spcPts val="2620"/>
              </a:lnSpc>
            </a:pPr>
            <a:r>
              <a:rPr lang="en-US" sz="1871" b="true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Many young people struggle to access practical coding skills and technology jobs.</a:t>
            </a:r>
          </a:p>
          <a:p>
            <a:pPr algn="l">
              <a:lnSpc>
                <a:spcPts val="2620"/>
              </a:lnSpc>
            </a:pPr>
          </a:p>
          <a:p>
            <a:pPr algn="l">
              <a:lnSpc>
                <a:spcPts val="262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7398478" y="4847966"/>
            <a:ext cx="4286208" cy="1972955"/>
            <a:chOff x="0" y="0"/>
            <a:chExt cx="5714944" cy="26306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5714944" cy="77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86"/>
                </a:lnSpc>
              </a:pPr>
              <a:r>
                <a:rPr lang="en-US" b="true" sz="3822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50%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63640"/>
              <a:ext cx="5714944" cy="1766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14"/>
                </a:lnSpc>
              </a:pPr>
              <a:r>
                <a:rPr lang="en-US" sz="1510" b="true">
                  <a:solidFill>
                    <a:srgbClr val="00BF63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Digital skills development</a:t>
              </a:r>
            </a:p>
            <a:p>
              <a:pPr algn="l">
                <a:lnSpc>
                  <a:spcPts val="2114"/>
                </a:lnSpc>
              </a:pPr>
            </a:p>
            <a:p>
              <a:pPr algn="l">
                <a:lnSpc>
                  <a:spcPts val="2114"/>
                </a:lnSpc>
              </a:pPr>
              <a:r>
                <a:rPr lang="en-US" sz="1510" b="true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PythonBridgeAfrica aims to make Python learning and practical training more accessible.</a:t>
              </a:r>
            </a:p>
            <a:p>
              <a:pPr algn="l">
                <a:lnSpc>
                  <a:spcPts val="211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98478" y="6635585"/>
            <a:ext cx="7784329" cy="3574501"/>
            <a:chOff x="0" y="0"/>
            <a:chExt cx="10379106" cy="476600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0379106" cy="1413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30"/>
                </a:lnSpc>
              </a:pPr>
              <a:r>
                <a:rPr lang="en-US" b="true" sz="6942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3 </a:t>
              </a:r>
              <a:r>
                <a:rPr lang="en-US" b="true" sz="6942" u="none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million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563231"/>
              <a:ext cx="10379106" cy="3202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39"/>
                </a:lnSpc>
              </a:pPr>
              <a:r>
                <a:rPr lang="en-US" sz="2742" b="true">
                  <a:solidFill>
                    <a:srgbClr val="00BF63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Potential youth opportunities</a:t>
              </a:r>
            </a:p>
            <a:p>
              <a:pPr algn="l">
                <a:lnSpc>
                  <a:spcPts val="3839"/>
                </a:lnSpc>
              </a:pPr>
            </a:p>
            <a:p>
              <a:pPr algn="l">
                <a:lnSpc>
                  <a:spcPts val="3839"/>
                </a:lnSpc>
              </a:pPr>
              <a:r>
                <a:rPr lang="en-US" sz="2742" b="true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Our vision is to expand digital skills and career opportunities for young people across Africa.</a:t>
              </a:r>
            </a:p>
            <a:p>
              <a:pPr algn="l">
                <a:lnSpc>
                  <a:spcPts val="3839"/>
                </a:lnSpc>
              </a:pP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4552" y="4493818"/>
            <a:ext cx="4249772" cy="2479033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4552" y="7932974"/>
            <a:ext cx="4249772" cy="1345761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4552" y="1930507"/>
            <a:ext cx="4249772" cy="1919056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b="true" sz="2199">
                <a:solidFill>
                  <a:srgbClr val="00BF63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82363"/>
            <a:ext cx="908275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</a:pPr>
            <a:r>
              <a:rPr lang="en-US" b="true" sz="81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Target Market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887176" y="1062343"/>
            <a:ext cx="8438332" cy="7915171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622869"/>
            <a:ext cx="689673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810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Market Size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912229"/>
            <a:ext cx="4477068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0"/>
              </a:lnSpc>
              <a:spcBef>
                <a:spcPct val="0"/>
              </a:spcBef>
            </a:pPr>
            <a:r>
              <a:rPr lang="en-US" b="true" sz="2758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Total Potential Learners: 5 Million</a:t>
            </a:r>
          </a:p>
          <a:p>
            <a:pPr algn="ctr">
              <a:lnSpc>
                <a:spcPts val="3310"/>
              </a:lnSpc>
              <a:spcBef>
                <a:spcPct val="0"/>
              </a:spcBef>
            </a:pPr>
          </a:p>
          <a:p>
            <a:pPr algn="ctr">
              <a:lnSpc>
                <a:spcPts val="3310"/>
              </a:lnSpc>
              <a:spcBef>
                <a:spcPct val="0"/>
              </a:spcBef>
            </a:pPr>
            <a:r>
              <a:rPr lang="en-US" b="true" sz="2758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Learners We Can Reach: 1 Million</a:t>
            </a:r>
          </a:p>
          <a:p>
            <a:pPr algn="ctr">
              <a:lnSpc>
                <a:spcPts val="3310"/>
              </a:lnSpc>
              <a:spcBef>
                <a:spcPct val="0"/>
              </a:spcBef>
            </a:pPr>
          </a:p>
          <a:p>
            <a:pPr algn="ctr">
              <a:lnSpc>
                <a:spcPts val="3310"/>
              </a:lnSpc>
              <a:spcBef>
                <a:spcPct val="0"/>
              </a:spcBef>
            </a:pPr>
            <a:r>
              <a:rPr lang="en-US" b="true" sz="2758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Target Learners: 100,000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3" id="3"/>
          <p:cNvSpPr/>
          <p:nvPr/>
        </p:nvSpPr>
        <p:spPr>
          <a:xfrm rot="0"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4" id="4"/>
          <p:cNvSpPr/>
          <p:nvPr/>
        </p:nvSpPr>
        <p:spPr>
          <a:xfrm rot="0"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5" id="5"/>
          <p:cNvSpPr/>
          <p:nvPr/>
        </p:nvSpPr>
        <p:spPr>
          <a:xfrm rot="0"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6" id="6"/>
          <p:cNvSpPr/>
          <p:nvPr/>
        </p:nvSpPr>
        <p:spPr>
          <a:xfrm rot="0"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7" id="7"/>
          <p:cNvSpPr/>
          <p:nvPr/>
        </p:nvSpPr>
        <p:spPr>
          <a:xfrm flipH="false" flipV="false" rot="0">
            <a:off x="420956" y="266700"/>
            <a:ext cx="9360585" cy="7419825"/>
          </a:xfrm>
          <a:custGeom>
            <a:avLst/>
            <a:gdLst/>
            <a:ahLst/>
            <a:cxnLst/>
            <a:rect r="r" b="b" t="t" l="l"/>
            <a:pathLst>
              <a:path h="7419825" w="9360585">
                <a:moveTo>
                  <a:pt x="0" y="0"/>
                </a:moveTo>
                <a:lnTo>
                  <a:pt x="9360585" y="0"/>
                </a:lnTo>
                <a:lnTo>
                  <a:pt x="9360585" y="7419825"/>
                </a:lnTo>
                <a:lnTo>
                  <a:pt x="0" y="741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53" t="0" r="-48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78174" y="1862225"/>
            <a:ext cx="6218290" cy="6274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b="true" sz="2357" u="sng">
                <a:solidFill>
                  <a:srgbClr val="00BF63"/>
                </a:solidFill>
                <a:latin typeface="Garet Bold"/>
                <a:ea typeface="Garet Bold"/>
                <a:cs typeface="Garet Bold"/>
                <a:sym typeface="Garet Bold"/>
              </a:rPr>
              <a:t>Competitors</a:t>
            </a:r>
            <a:r>
              <a:rPr lang="en-US" sz="23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freeCodeCamp, Coursera, and Moringa School.</a:t>
            </a:r>
          </a:p>
          <a:p>
            <a:pPr algn="just">
              <a:lnSpc>
                <a:spcPts val="3300"/>
              </a:lnSpc>
            </a:pPr>
          </a:p>
          <a:p>
            <a:pPr algn="just">
              <a:lnSpc>
                <a:spcPts val="3300"/>
              </a:lnSpc>
            </a:pPr>
          </a:p>
          <a:p>
            <a:pPr algn="just">
              <a:lnSpc>
                <a:spcPts val="3300"/>
              </a:lnSpc>
            </a:pPr>
          </a:p>
          <a:p>
            <a:pPr algn="just">
              <a:lnSpc>
                <a:spcPts val="3300"/>
              </a:lnSpc>
            </a:pPr>
          </a:p>
          <a:p>
            <a:pPr algn="just">
              <a:lnSpc>
                <a:spcPts val="3300"/>
              </a:lnSpc>
            </a:pPr>
          </a:p>
          <a:p>
            <a:pPr algn="just">
              <a:lnSpc>
                <a:spcPts val="3300"/>
              </a:lnSpc>
            </a:pPr>
            <a:r>
              <a:rPr lang="en-US" b="true" sz="2357" u="sng">
                <a:solidFill>
                  <a:srgbClr val="00BF63"/>
                </a:solidFill>
                <a:latin typeface="Garet Bold"/>
                <a:ea typeface="Garet Bold"/>
                <a:cs typeface="Garet Bold"/>
                <a:sym typeface="Garet Bold"/>
              </a:rPr>
              <a:t>Our Difference</a:t>
            </a:r>
            <a:r>
              <a:rPr lang="en-US" sz="23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PythonBridgeAfrica combines beginner-friendly Python training, practical coding projects, mentorship, and career connections in one platform, focusing on helping African youth turn digital skills into employment opportunities.</a:t>
            </a:r>
          </a:p>
          <a:p>
            <a:pPr algn="just" marL="0" indent="0" lvl="0">
              <a:lnSpc>
                <a:spcPts val="33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508761" y="257175"/>
            <a:ext cx="875053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19"/>
              </a:lnSpc>
            </a:pPr>
            <a:r>
              <a:rPr lang="en-US" b="true" sz="8099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Competitors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04360" y="4866903"/>
            <a:ext cx="7683640" cy="5420097"/>
          </a:xfrm>
          <a:custGeom>
            <a:avLst/>
            <a:gdLst/>
            <a:ahLst/>
            <a:cxnLst/>
            <a:rect r="r" b="b" t="t" l="l"/>
            <a:pathLst>
              <a:path h="5420097" w="7683640">
                <a:moveTo>
                  <a:pt x="0" y="0"/>
                </a:moveTo>
                <a:lnTo>
                  <a:pt x="7683640" y="0"/>
                </a:lnTo>
                <a:lnTo>
                  <a:pt x="7683640" y="5420097"/>
                </a:lnTo>
                <a:lnTo>
                  <a:pt x="0" y="5420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14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4866903"/>
            <a:ext cx="8122720" cy="5420097"/>
          </a:xfrm>
          <a:custGeom>
            <a:avLst/>
            <a:gdLst/>
            <a:ahLst/>
            <a:cxnLst/>
            <a:rect r="r" b="b" t="t" l="l"/>
            <a:pathLst>
              <a:path h="5420097" w="8122720">
                <a:moveTo>
                  <a:pt x="0" y="0"/>
                </a:moveTo>
                <a:lnTo>
                  <a:pt x="8122720" y="0"/>
                </a:lnTo>
                <a:lnTo>
                  <a:pt x="8122720" y="5420097"/>
                </a:lnTo>
                <a:lnTo>
                  <a:pt x="0" y="5420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105725" y="1028700"/>
            <a:ext cx="13944632" cy="3741618"/>
            <a:chOff x="0" y="0"/>
            <a:chExt cx="18592843" cy="49888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18592843" cy="163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20"/>
                </a:lnSpc>
              </a:pPr>
              <a:r>
                <a:rPr lang="en-US" b="true" sz="8100">
                  <a:solidFill>
                    <a:srgbClr val="0BB6BC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Competitive Advantage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958984"/>
              <a:ext cx="13467744" cy="3029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2"/>
                </a:lnSpc>
              </a:pPr>
              <a:r>
                <a:rPr lang="en-US" sz="2623" u="sng" b="true">
                  <a:solidFill>
                    <a:srgbClr val="00BF63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PythonBridgeAfrica</a:t>
              </a:r>
            </a:p>
            <a:p>
              <a:pPr algn="l">
                <a:lnSpc>
                  <a:spcPts val="3672"/>
                </a:lnSpc>
              </a:pPr>
              <a:r>
                <a:rPr lang="en-US" sz="2623" b="true">
                  <a:solidFill>
                    <a:srgbClr val="0831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 Helps African youth learn Python, gain practical coding experience, receive mentorship, and connect with jobs and freelance opportunities in one platform.</a:t>
              </a:r>
            </a:p>
            <a:p>
              <a:pPr algn="l">
                <a:lnSpc>
                  <a:spcPts val="3672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3" id="3"/>
          <p:cNvSpPr/>
          <p:nvPr/>
        </p:nvSpPr>
        <p:spPr>
          <a:xfrm rot="0">
            <a:off x="712918" y="231823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4" id="4"/>
          <p:cNvSpPr/>
          <p:nvPr/>
        </p:nvSpPr>
        <p:spPr>
          <a:xfrm rot="0"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5" id="5"/>
          <p:cNvSpPr/>
          <p:nvPr/>
        </p:nvSpPr>
        <p:spPr>
          <a:xfrm rot="0"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6" id="6"/>
          <p:cNvSpPr/>
          <p:nvPr/>
        </p:nvSpPr>
        <p:spPr>
          <a:xfrm rot="0">
            <a:off x="1703359" y="3357575"/>
            <a:ext cx="14881282" cy="0"/>
          </a:xfrm>
          <a:prstGeom prst="line">
            <a:avLst/>
          </a:prstGeom>
          <a:ln cap="flat" w="19050">
            <a:solidFill>
              <a:srgbClr val="9011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0">
            <a:off x="1703359" y="8136464"/>
            <a:ext cx="14881282" cy="0"/>
          </a:xfrm>
          <a:prstGeom prst="line">
            <a:avLst/>
          </a:prstGeom>
          <a:ln cap="flat" w="19050">
            <a:solidFill>
              <a:srgbClr val="9011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0">
            <a:off x="8659450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9" id="9"/>
          <p:cNvSpPr/>
          <p:nvPr/>
        </p:nvSpPr>
        <p:spPr>
          <a:xfrm rot="0">
            <a:off x="6673531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6913736" y="2694518"/>
            <a:ext cx="1524842" cy="39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Month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75969" y="2694518"/>
            <a:ext cx="1316017" cy="39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Month 2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10645368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11029376" y="2694518"/>
            <a:ext cx="1316017" cy="39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Month 3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12631287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5" id="15"/>
          <p:cNvSpPr/>
          <p:nvPr/>
        </p:nvSpPr>
        <p:spPr>
          <a:xfrm rot="0">
            <a:off x="14612169" y="2467083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6" id="16"/>
          <p:cNvSpPr txBox="true"/>
          <p:nvPr/>
        </p:nvSpPr>
        <p:spPr>
          <a:xfrm rot="0">
            <a:off x="12982784" y="2694518"/>
            <a:ext cx="1316017" cy="39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Month 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36191" y="2694518"/>
            <a:ext cx="1316017" cy="39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Month 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68802" y="2696086"/>
            <a:ext cx="437069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Tasks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3359" y="3440546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Market Research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3359" y="4019497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Identify Target Users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3359" y="4626226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Develop Python Lessons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03359" y="5109130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Create Practical Projects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03359" y="5657930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Build a Platform Prototype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03359" y="6407534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Find Mentors and Partners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03359" y="7041893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Test with Pilot Learners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03359" y="7612991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BF63"/>
                </a:solidFill>
                <a:latin typeface="Barlow"/>
                <a:ea typeface="Barlow"/>
                <a:cs typeface="Barlow"/>
                <a:sym typeface="Barlow"/>
              </a:rPr>
              <a:t>Connect Learners to Opportunities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6673184" y="3424302"/>
            <a:ext cx="1972820" cy="0"/>
          </a:xfrm>
          <a:prstGeom prst="line">
            <a:avLst/>
          </a:prstGeom>
          <a:ln cap="flat" w="485775">
            <a:solidFill>
              <a:srgbClr val="9011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0">
            <a:off x="7659594" y="4027543"/>
            <a:ext cx="2972328" cy="0"/>
          </a:xfrm>
          <a:prstGeom prst="line">
            <a:avLst/>
          </a:prstGeom>
          <a:ln cap="flat" w="485775">
            <a:solidFill>
              <a:srgbClr val="0BB6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0">
            <a:off x="7659594" y="4603308"/>
            <a:ext cx="2012985" cy="0"/>
          </a:xfrm>
          <a:prstGeom prst="line">
            <a:avLst/>
          </a:prstGeom>
          <a:ln cap="flat" w="485775">
            <a:solidFill>
              <a:srgbClr val="FF66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0">
            <a:off x="12631287" y="6402324"/>
            <a:ext cx="2962913" cy="0"/>
          </a:xfrm>
          <a:prstGeom prst="line">
            <a:avLst/>
          </a:prstGeom>
          <a:ln cap="flat" w="485775">
            <a:solidFill>
              <a:srgbClr val="0831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0">
            <a:off x="14603759" y="6996645"/>
            <a:ext cx="1980882" cy="0"/>
          </a:xfrm>
          <a:prstGeom prst="line">
            <a:avLst/>
          </a:prstGeom>
          <a:ln cap="flat" w="485775">
            <a:solidFill>
              <a:srgbClr val="CF6E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0">
            <a:off x="15598405" y="7590073"/>
            <a:ext cx="986236" cy="0"/>
          </a:xfrm>
          <a:prstGeom prst="line">
            <a:avLst/>
          </a:prstGeom>
          <a:ln cap="flat" w="485775">
            <a:solidFill>
              <a:srgbClr val="FF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0">
            <a:off x="10645368" y="5214576"/>
            <a:ext cx="3966801" cy="0"/>
          </a:xfrm>
          <a:prstGeom prst="line">
            <a:avLst/>
          </a:prstGeom>
          <a:ln cap="flat" w="485775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0">
            <a:off x="9672578" y="5809789"/>
            <a:ext cx="3944944" cy="0"/>
          </a:xfrm>
          <a:prstGeom prst="line">
            <a:avLst/>
          </a:prstGeom>
          <a:ln cap="flat" w="485775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1703359" y="343008"/>
            <a:ext cx="14733814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19"/>
              </a:lnSpc>
            </a:pPr>
            <a:r>
              <a:rPr lang="en-US" b="true" sz="8099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Project Traction</a:t>
            </a:r>
          </a:p>
        </p:txBody>
      </p:sp>
      <p:sp>
        <p:nvSpPr>
          <p:cNvPr name="AutoShape 36" id="36"/>
          <p:cNvSpPr/>
          <p:nvPr/>
        </p:nvSpPr>
        <p:spPr>
          <a:xfrm rot="0"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TextBox 37" id="37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341197" cy="10287000"/>
            <a:chOff x="0" y="0"/>
            <a:chExt cx="12454930" cy="13716000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454930" cy="13716000"/>
            </a:xfrm>
            <a:prstGeom prst="rect">
              <a:avLst/>
            </a:prstGeom>
            <a:solidFill>
              <a:srgbClr val="0BB6B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2583708"/>
            <a:ext cx="6200420" cy="6200420"/>
          </a:xfrm>
          <a:custGeom>
            <a:avLst/>
            <a:gdLst/>
            <a:ahLst/>
            <a:cxnLst/>
            <a:rect r="r" b="b" t="t" l="l"/>
            <a:pathLst>
              <a:path h="6200420" w="6200420">
                <a:moveTo>
                  <a:pt x="0" y="0"/>
                </a:moveTo>
                <a:lnTo>
                  <a:pt x="6200420" y="0"/>
                </a:lnTo>
                <a:lnTo>
                  <a:pt x="6200420" y="6200420"/>
                </a:lnTo>
                <a:lnTo>
                  <a:pt x="0" y="6200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4813"/>
            <a:ext cx="14733814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19"/>
              </a:lnSpc>
            </a:pPr>
            <a:r>
              <a:rPr lang="en-US" b="true" sz="8099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Business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1913488"/>
            <a:ext cx="7591002" cy="7763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 u="sng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We Make Money</a:t>
            </a:r>
          </a:p>
          <a:p>
            <a:pPr algn="ctr">
              <a:lnSpc>
                <a:spcPts val="3629"/>
              </a:lnSpc>
              <a:spcBef>
                <a:spcPct val="0"/>
              </a:spcBef>
            </a:pPr>
          </a:p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>
                <a:solidFill>
                  <a:srgbClr val="FF66C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Paid Python Courses</a:t>
            </a:r>
            <a:r>
              <a:rPr lang="en-US" sz="25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Fees for advanced lessons.</a:t>
            </a:r>
          </a:p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>
                <a:solidFill>
                  <a:srgbClr val="FF66C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Monthly Subscriptions</a:t>
            </a:r>
            <a:r>
              <a:rPr lang="en-US" sz="25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Payments for premium learning resources.</a:t>
            </a:r>
          </a:p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>
                <a:solidFill>
                  <a:srgbClr val="FF66C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Corporate Training</a:t>
            </a:r>
            <a:r>
              <a:rPr lang="en-US" sz="25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Training services for schools and organizations.</a:t>
            </a:r>
          </a:p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>
                <a:solidFill>
                  <a:srgbClr val="FF66C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Recruitment Fees</a:t>
            </a:r>
            <a:r>
              <a:rPr lang="en-US" sz="25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Income from successful hiring referrals.</a:t>
            </a:r>
          </a:p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>
                <a:solidFill>
                  <a:srgbClr val="FF66C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Paid Mentorship</a:t>
            </a:r>
            <a:r>
              <a:rPr lang="en-US" sz="25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Fees for personal guidance from developers.</a:t>
            </a:r>
          </a:p>
          <a:p>
            <a:pPr algn="ctr">
              <a:lnSpc>
                <a:spcPts val="3629"/>
              </a:lnSpc>
              <a:spcBef>
                <a:spcPct val="0"/>
              </a:spcBef>
            </a:pPr>
          </a:p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 u="sng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Profit Margin</a:t>
            </a:r>
            <a:r>
              <a:rPr lang="en-US" sz="25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sz="25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Target gross profit margin of 30%–40% by keeping online learning costs low and building partnerships.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02317" y="-57150"/>
            <a:ext cx="15356983" cy="951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2"/>
              </a:lnSpc>
              <a:spcBef>
                <a:spcPct val="0"/>
              </a:spcBef>
            </a:pPr>
            <a:r>
              <a:rPr lang="en-US" b="true" sz="2730" u="sng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Go-To-Market Strategy</a:t>
            </a: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  <a:r>
              <a:rPr lang="en-US" b="true" sz="2730">
                <a:solidFill>
                  <a:srgbClr val="FF5757"/>
                </a:solidFill>
                <a:latin typeface="Barlow Bold"/>
                <a:ea typeface="Barlow Bold"/>
                <a:cs typeface="Barlow Bold"/>
                <a:sym typeface="Barlow Bold"/>
              </a:rPr>
              <a:t>Social Media</a:t>
            </a:r>
            <a:r>
              <a:rPr lang="en-US" sz="273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: Promote PythonBridgeAfrica on TikTok, Facebook, and LinkedIn.</a:t>
            </a: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  <a:r>
              <a:rPr lang="en-US" b="true" sz="2730">
                <a:solidFill>
                  <a:srgbClr val="FF5757"/>
                </a:solidFill>
                <a:latin typeface="Barlow Bold"/>
                <a:ea typeface="Barlow Bold"/>
                <a:cs typeface="Barlow Bold"/>
                <a:sym typeface="Barlow Bold"/>
              </a:rPr>
              <a:t>School Partnerships</a:t>
            </a:r>
            <a:r>
              <a:rPr lang="en-US" sz="273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: Reach students through schools and universities.</a:t>
            </a: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  <a:r>
              <a:rPr lang="en-US" b="true" sz="2730">
                <a:solidFill>
                  <a:srgbClr val="FF5757"/>
                </a:solidFill>
                <a:latin typeface="Barlow Bold"/>
                <a:ea typeface="Barlow Bold"/>
                <a:cs typeface="Barlow Bold"/>
                <a:sym typeface="Barlow Bold"/>
              </a:rPr>
              <a:t>Community Outreach</a:t>
            </a:r>
            <a:r>
              <a:rPr lang="en-US" sz="273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: Engage youth through coding clubs and tech events.</a:t>
            </a: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  <a:r>
              <a:rPr lang="en-US" b="true" sz="2730">
                <a:solidFill>
                  <a:srgbClr val="FF5757"/>
                </a:solidFill>
                <a:latin typeface="Barlow Bold"/>
                <a:ea typeface="Barlow Bold"/>
                <a:cs typeface="Barlow Bold"/>
                <a:sym typeface="Barlow Bold"/>
              </a:rPr>
              <a:t>Free Workshops</a:t>
            </a:r>
            <a:r>
              <a:rPr lang="en-US" sz="273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: Offer beginner Python lessons to attract learners.</a:t>
            </a: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  <a:r>
              <a:rPr lang="en-US" b="true" sz="2730">
                <a:solidFill>
                  <a:srgbClr val="FF5757"/>
                </a:solidFill>
                <a:latin typeface="Barlow Bold"/>
                <a:ea typeface="Barlow Bold"/>
                <a:cs typeface="Barlow Bold"/>
                <a:sym typeface="Barlow Bold"/>
              </a:rPr>
              <a:t>Referrals</a:t>
            </a:r>
            <a:r>
              <a:rPr lang="en-US" sz="273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: Encourage learners to invite friends.</a:t>
            </a: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  <a:p>
            <a:pPr algn="ctr">
              <a:lnSpc>
                <a:spcPts val="3822"/>
              </a:lnSpc>
              <a:spcBef>
                <a:spcPct val="0"/>
              </a:spcBef>
            </a:pPr>
            <a:r>
              <a:rPr lang="en-US" b="true" sz="2730">
                <a:solidFill>
                  <a:srgbClr val="FF5757"/>
                </a:solidFill>
                <a:latin typeface="Barlow Bold"/>
                <a:ea typeface="Barlow Bold"/>
                <a:cs typeface="Barlow Bold"/>
                <a:sym typeface="Barlow Bold"/>
              </a:rPr>
              <a:t>Online Platform</a:t>
            </a:r>
            <a:r>
              <a:rPr lang="en-US" sz="273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: Use our website to provide courses, mentorship, and career opportunities.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84098" y="5424875"/>
            <a:ext cx="9203902" cy="4862125"/>
          </a:xfrm>
          <a:custGeom>
            <a:avLst/>
            <a:gdLst/>
            <a:ahLst/>
            <a:cxnLst/>
            <a:rect r="r" b="b" t="t" l="l"/>
            <a:pathLst>
              <a:path h="4862125" w="9203902">
                <a:moveTo>
                  <a:pt x="0" y="0"/>
                </a:moveTo>
                <a:lnTo>
                  <a:pt x="9203902" y="0"/>
                </a:lnTo>
                <a:lnTo>
                  <a:pt x="9203902" y="4862125"/>
                </a:lnTo>
                <a:lnTo>
                  <a:pt x="0" y="4862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" r="-1592" b="-3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2668" y="667172"/>
            <a:ext cx="1394463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</a:pPr>
            <a:r>
              <a:rPr lang="en-US" b="true" sz="81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Social Impact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82668" y="2219325"/>
            <a:ext cx="8735795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2"/>
              </a:lnSpc>
              <a:spcBef>
                <a:spcPct val="0"/>
              </a:spcBef>
            </a:pPr>
            <a:r>
              <a:rPr lang="en-US" b="true" sz="2476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SDG 4 – QUALITY EDUCATION</a:t>
            </a:r>
            <a:r>
              <a:rPr lang="en-US" b="true" sz="2476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:</a:t>
            </a:r>
            <a:r>
              <a:rPr lang="en-US" sz="2476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PROVIDE PYTHON TRAINING</a:t>
            </a:r>
            <a:r>
              <a:rPr lang="en-US" b="true" sz="2476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.</a:t>
            </a:r>
          </a:p>
          <a:p>
            <a:pPr algn="ctr">
              <a:lnSpc>
                <a:spcPts val="1974"/>
              </a:lnSpc>
              <a:spcBef>
                <a:spcPct val="0"/>
              </a:spcBef>
            </a:pPr>
          </a:p>
          <a:p>
            <a:pPr algn="ctr">
              <a:lnSpc>
                <a:spcPts val="3418"/>
              </a:lnSpc>
              <a:spcBef>
                <a:spcPct val="0"/>
              </a:spcBef>
            </a:pPr>
            <a:r>
              <a:rPr lang="en-US" b="true" sz="2849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SDG 8 – DECENT WORK</a:t>
            </a:r>
            <a:r>
              <a:rPr lang="en-US" b="true" sz="2849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: </a:t>
            </a:r>
            <a:r>
              <a:rPr lang="en-US" sz="2849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CONNECT YOUTH TO JOBS</a:t>
            </a:r>
            <a:r>
              <a:rPr lang="en-US" b="true" sz="2849" i="true">
                <a:solidFill>
                  <a:srgbClr val="00000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.</a:t>
            </a:r>
          </a:p>
          <a:p>
            <a:pPr algn="ctr">
              <a:lnSpc>
                <a:spcPts val="1172"/>
              </a:lnSpc>
              <a:spcBef>
                <a:spcPct val="0"/>
              </a:spcBef>
            </a:pPr>
          </a:p>
          <a:p>
            <a:pPr algn="ctr">
              <a:lnSpc>
                <a:spcPts val="3418"/>
              </a:lnSpc>
              <a:spcBef>
                <a:spcPct val="0"/>
              </a:spcBef>
            </a:pPr>
            <a:r>
              <a:rPr lang="en-US" b="true" sz="2849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SDG 9 – INNOVATION</a:t>
            </a:r>
            <a:r>
              <a:rPr lang="en-US" b="true" sz="2849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:</a:t>
            </a:r>
            <a:r>
              <a:rPr lang="en-US" sz="2849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 PROMOTE TECHNOLOGY AND CODING</a:t>
            </a:r>
          </a:p>
          <a:p>
            <a:pPr algn="ctr">
              <a:lnSpc>
                <a:spcPts val="1172"/>
              </a:lnSpc>
              <a:spcBef>
                <a:spcPct val="0"/>
              </a:spcBef>
            </a:pPr>
          </a:p>
          <a:p>
            <a:pPr algn="ctr">
              <a:lnSpc>
                <a:spcPts val="2852"/>
              </a:lnSpc>
              <a:spcBef>
                <a:spcPct val="0"/>
              </a:spcBef>
            </a:pPr>
            <a:r>
              <a:rPr lang="en-US" b="true" sz="2376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SDG 10 – REDUCED INEQUALITIES</a:t>
            </a:r>
            <a:r>
              <a:rPr lang="en-US" b="true" sz="2376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:</a:t>
            </a:r>
            <a:r>
              <a:rPr lang="en-US" b="true" sz="2376" i="true">
                <a:solidFill>
                  <a:srgbClr val="000000"/>
                </a:solidFill>
                <a:latin typeface="Barlow Semi-Bold Italics"/>
                <a:ea typeface="Barlow Semi-Bold Italics"/>
                <a:cs typeface="Barlow Semi-Bold Italics"/>
                <a:sym typeface="Barlow Semi-Bold Italics"/>
              </a:rPr>
              <a:t> </a:t>
            </a:r>
            <a:r>
              <a:rPr lang="en-US" sz="2376" i="true">
                <a:solidFill>
                  <a:srgbClr val="00000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EXPAND ACCESS TO DIGITAL SKILLS.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5071" y="563734"/>
            <a:ext cx="689673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810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Our Ask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677" y="2152650"/>
            <a:ext cx="17980647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We are seeking $50,000 in funding to help PythonBridgeAfrica provide accessible Python education and practical coding skills to African youth.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How the Funds Will Be Used</a:t>
            </a:r>
            <a:r>
              <a:rPr lang="en-US" b="true" sz="300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: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40% – Python Learning Resources</a:t>
            </a:r>
            <a:r>
              <a:rPr lang="en-US" b="true" sz="300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: Develop lessons, tutorials, and coding exercises.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25% – Youth Training</a:t>
            </a:r>
            <a:r>
              <a:rPr lang="en-US" b="true" sz="300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: Organize Python workshops and practical learning sessions.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20% – Mentorship</a:t>
            </a:r>
            <a:r>
              <a:rPr lang="en-US" b="true" sz="300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: Connect learners with experienced Python developers.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10% – Technology Access</a:t>
            </a:r>
            <a:r>
              <a:rPr lang="en-US" b="true" sz="300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: Support internet access and learning resources for disadvantaged students.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5% – Career Support</a:t>
            </a:r>
            <a:r>
              <a:rPr lang="en-US" b="true" sz="300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: Help learners build portfolios and prepare for job opportunities.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Your support will empower young Africans with digital skills, practical experience, and pathways toward careers in technology.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40395" y="2779852"/>
            <a:ext cx="4504084" cy="4095845"/>
          </a:xfrm>
          <a:custGeom>
            <a:avLst/>
            <a:gdLst/>
            <a:ahLst/>
            <a:cxnLst/>
            <a:rect r="r" b="b" t="t" l="l"/>
            <a:pathLst>
              <a:path h="4095845" w="4504084">
                <a:moveTo>
                  <a:pt x="0" y="0"/>
                </a:moveTo>
                <a:lnTo>
                  <a:pt x="4504083" y="0"/>
                </a:lnTo>
                <a:lnTo>
                  <a:pt x="4504083" y="4095845"/>
                </a:lnTo>
                <a:lnTo>
                  <a:pt x="0" y="4095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79" t="-13526" r="-5179" b="-783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78041" y="2257425"/>
            <a:ext cx="4082330" cy="5028689"/>
          </a:xfrm>
          <a:custGeom>
            <a:avLst/>
            <a:gdLst/>
            <a:ahLst/>
            <a:cxnLst/>
            <a:rect r="r" b="b" t="t" l="l"/>
            <a:pathLst>
              <a:path h="5028689" w="4082330">
                <a:moveTo>
                  <a:pt x="0" y="0"/>
                </a:moveTo>
                <a:lnTo>
                  <a:pt x="4082330" y="0"/>
                </a:lnTo>
                <a:lnTo>
                  <a:pt x="4082330" y="5028689"/>
                </a:lnTo>
                <a:lnTo>
                  <a:pt x="0" y="50286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05725" y="1028700"/>
            <a:ext cx="1394463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</a:pPr>
            <a:r>
              <a:rPr lang="en-US" b="true" sz="8100" u="none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 Team Members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40395" y="7399572"/>
            <a:ext cx="4982084" cy="32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b="true" sz="2132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Chan Gatwech — Founder &amp; Project Lead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7399572"/>
            <a:ext cx="665592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  <a:r>
              <a:rPr lang="en-US" b="true" sz="2232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Gatduel Riek</a:t>
            </a:r>
            <a:r>
              <a:rPr lang="en-US" b="true" sz="2232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— Technical and Training Co-ordinator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34634" y="-84320"/>
            <a:ext cx="10455640" cy="10455640"/>
          </a:xfrm>
          <a:custGeom>
            <a:avLst/>
            <a:gdLst/>
            <a:ahLst/>
            <a:cxnLst/>
            <a:rect r="r" b="b" t="t" l="l"/>
            <a:pathLst>
              <a:path h="10455640" w="10455640">
                <a:moveTo>
                  <a:pt x="0" y="0"/>
                </a:moveTo>
                <a:lnTo>
                  <a:pt x="10455640" y="0"/>
                </a:lnTo>
                <a:lnTo>
                  <a:pt x="10455640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4460" y="810819"/>
            <a:ext cx="10199079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 b="true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Thank you!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892730" y="1028700"/>
            <a:ext cx="2793363" cy="1396681"/>
          </a:xfrm>
          <a:custGeom>
            <a:avLst/>
            <a:gdLst/>
            <a:ahLst/>
            <a:cxnLst/>
            <a:rect r="r" b="b" t="t" l="l"/>
            <a:pathLst>
              <a:path h="1396681" w="2793363">
                <a:moveTo>
                  <a:pt x="0" y="0"/>
                </a:moveTo>
                <a:lnTo>
                  <a:pt x="2793363" y="0"/>
                </a:lnTo>
                <a:lnTo>
                  <a:pt x="2793363" y="1396681"/>
                </a:lnTo>
                <a:lnTo>
                  <a:pt x="0" y="1396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2825260" y="6798102"/>
            <a:ext cx="2438400" cy="2438400"/>
          </a:xfrm>
          <a:custGeom>
            <a:avLst/>
            <a:gdLst/>
            <a:ahLst/>
            <a:cxnLst/>
            <a:rect r="r" b="b" t="t" l="l"/>
            <a:pathLst>
              <a:path h="2438400" w="2438400">
                <a:moveTo>
                  <a:pt x="2438400" y="0"/>
                </a:moveTo>
                <a:lnTo>
                  <a:pt x="0" y="0"/>
                </a:lnTo>
                <a:lnTo>
                  <a:pt x="0" y="2438400"/>
                </a:lnTo>
                <a:lnTo>
                  <a:pt x="2438400" y="2438400"/>
                </a:lnTo>
                <a:lnTo>
                  <a:pt x="24384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9257" y="893789"/>
            <a:ext cx="1079292" cy="269823"/>
          </a:xfrm>
          <a:custGeom>
            <a:avLst/>
            <a:gdLst/>
            <a:ahLst/>
            <a:cxnLst/>
            <a:rect r="r" b="b" t="t" l="l"/>
            <a:pathLst>
              <a:path h="269823" w="1079292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3723" y="4452620"/>
            <a:ext cx="5970757" cy="309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b="true" sz="2199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Gmail</a:t>
            </a:r>
            <a:r>
              <a:rPr lang="en-US" b="true" sz="2199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: changatwech8@gmail.com</a:t>
            </a:r>
          </a:p>
          <a:p>
            <a:pPr algn="ctr">
              <a:lnSpc>
                <a:spcPts val="2749"/>
              </a:lnSpc>
              <a:spcBef>
                <a:spcPct val="0"/>
              </a:spcBef>
            </a:pPr>
          </a:p>
          <a:p>
            <a:pPr algn="ctr">
              <a:lnSpc>
                <a:spcPts val="2749"/>
              </a:lnSpc>
              <a:spcBef>
                <a:spcPct val="0"/>
              </a:spcBef>
            </a:pPr>
          </a:p>
          <a:p>
            <a:pPr algn="ctr">
              <a:lnSpc>
                <a:spcPts val="2749"/>
              </a:lnSpc>
              <a:spcBef>
                <a:spcPct val="0"/>
              </a:spcBef>
            </a:pPr>
          </a:p>
          <a:p>
            <a:pPr algn="ctr">
              <a:lnSpc>
                <a:spcPts val="2749"/>
              </a:lnSpc>
              <a:spcBef>
                <a:spcPct val="0"/>
              </a:spcBef>
            </a:pPr>
          </a:p>
          <a:p>
            <a:pPr algn="ctr">
              <a:lnSpc>
                <a:spcPts val="2749"/>
              </a:lnSpc>
              <a:spcBef>
                <a:spcPct val="0"/>
              </a:spcBef>
            </a:pPr>
          </a:p>
          <a:p>
            <a:pPr algn="ctr">
              <a:lnSpc>
                <a:spcPts val="2749"/>
              </a:lnSpc>
              <a:spcBef>
                <a:spcPct val="0"/>
              </a:spcBef>
            </a:pPr>
          </a:p>
          <a:p>
            <a:pPr algn="ctr">
              <a:lnSpc>
                <a:spcPts val="2749"/>
              </a:lnSpc>
              <a:spcBef>
                <a:spcPct val="0"/>
              </a:spcBef>
            </a:pPr>
          </a:p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b="true" sz="2199" u="sng">
                <a:solidFill>
                  <a:srgbClr val="FF5757"/>
                </a:solidFill>
                <a:latin typeface="Barlow Bold"/>
                <a:ea typeface="Barlow Bold"/>
                <a:cs typeface="Barlow Bold"/>
                <a:sym typeface="Barlow Bold"/>
              </a:rPr>
              <a:t>Phone</a:t>
            </a:r>
            <a:r>
              <a:rPr lang="en-US" b="true" sz="2199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:</a:t>
            </a:r>
            <a:r>
              <a:rPr lang="en-US" b="true" sz="2199">
                <a:solidFill>
                  <a:srgbClr val="00BF63"/>
                </a:solidFill>
                <a:latin typeface="Barlow Bold"/>
                <a:ea typeface="Barlow Bold"/>
                <a:cs typeface="Barlow Bold"/>
                <a:sym typeface="Barlow Bold"/>
              </a:rPr>
              <a:t> 0113482233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DAHXbApS-0k</dc:identifier>
  <dcterms:modified xsi:type="dcterms:W3CDTF">2011-08-01T06:04:30Z</dcterms:modified>
  <cp:revision>1</cp:revision>
  <dc:title>Copy of Copy of Copy of PLP Standard Pitch Deck Template</dc:title>
</cp:coreProperties>
</file>